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6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8.xml"/><Relationship Id="rId24" Type="http://schemas.openxmlformats.org/officeDocument/2006/relationships/font" Target="fonts/MavenPro-bold.fntdata"/><Relationship Id="rId12" Type="http://schemas.openxmlformats.org/officeDocument/2006/relationships/slide" Target="slides/slide7.xml"/><Relationship Id="rId23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d3553b2f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d3553b2f0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d3553b2f0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bd3553b2f0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d3553b2f0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bd3553b2f0_2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d3553b2f0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bd3553b2f0_2_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d3553b2f0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bd3553b2f0_2_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d3553b2f0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bd3553b2f0_2_1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d3553b2f0_0_4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d3553b2f0_0_4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d3553b2f0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bd3553b2f0_2_1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d3553b2f0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bd3553b2f0_2_1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276" name="Google Shape;276;p13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277" name="Google Shape;277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" name="Google Shape;282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83" name="Google Shape;283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</a:pPr>
            <a:r>
              <a:rPr b="1" lang="en" sz="3600">
                <a:latin typeface="Montserrat"/>
                <a:ea typeface="Montserrat"/>
                <a:cs typeface="Montserrat"/>
                <a:sym typeface="Montserrat"/>
              </a:rPr>
              <a:t>Cyclistic Bike-Share Case Study</a:t>
            </a:r>
            <a:endParaRPr/>
          </a:p>
        </p:txBody>
      </p:sp>
      <p:sp>
        <p:nvSpPr>
          <p:cNvPr id="291" name="Google Shape;291;p15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0" lang="en" sz="1800">
                <a:latin typeface="Arial"/>
                <a:ea typeface="Arial"/>
                <a:cs typeface="Arial"/>
                <a:sym typeface="Arial"/>
              </a:rPr>
              <a:t>How member and casual rider behavior differs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0" lang="en" sz="1800">
                <a:latin typeface="Arial"/>
                <a:ea typeface="Arial"/>
                <a:cs typeface="Arial"/>
                <a:sym typeface="Arial"/>
              </a:rPr>
              <a:t>Tools: SQL (BigQuery), Excel</a:t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50" y="455367"/>
            <a:ext cx="1303701" cy="11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34250" y="326950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Business Task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334250" y="219025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Identify how members and casual riders use Cyclistic bikes differently.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Use insights to design conversion-focused marketing strategies.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34275" y="87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Data &amp; Tools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88550" y="201615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2019 Cyclistic trip data (Q1–Q4)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3.8M rides, trip-level records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Fields: Start/End, Duration, Stations, User type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88550" y="373275"/>
            <a:ext cx="63669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Key Findings (Behavior)</a:t>
            </a:r>
            <a:endParaRPr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170825" y="1668375"/>
            <a:ext cx="44013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Members ride more often but for shorter trips (avg 14.3 min).</a:t>
            </a:r>
            <a:endParaRPr sz="1400"/>
          </a:p>
          <a:p>
            <a:pPr indent="-317500" lvl="0" marL="342900" rtl="0" algn="l">
              <a:lnSpc>
                <a:spcPct val="9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Casual riders take much longer trips (avg 57.0 min).</a:t>
            </a:r>
            <a:endParaRPr sz="1400"/>
          </a:p>
          <a:p>
            <a:pPr indent="-317500" lvl="0" marL="342900" rtl="0" algn="l">
              <a:lnSpc>
                <a:spcPct val="9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Weekend share: 18.5% member vs 43.0% casual.</a:t>
            </a:r>
            <a:endParaRPr sz="1400"/>
          </a:p>
          <a:p>
            <a:pPr indent="-317500" lvl="0" marL="342900" rtl="0" algn="l">
              <a:lnSpc>
                <a:spcPct val="9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Round-trip rate: 1.62% member vs 11.88% casual.</a:t>
            </a:r>
            <a:endParaRPr sz="1400"/>
          </a:p>
          <a:p>
            <a:pPr indent="-317500" lvl="0" marL="342900" rtl="0" algn="l">
              <a:lnSpc>
                <a:spcPct val="95000"/>
              </a:lnSpc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Long rides &gt;30 min: 5.7% member vs 41.0% casual.</a:t>
            </a:r>
            <a:endParaRPr sz="1400"/>
          </a:p>
        </p:txBody>
      </p:sp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68375"/>
            <a:ext cx="4419600" cy="2207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1388625" y="373275"/>
            <a:ext cx="63669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Time Patterns</a:t>
            </a:r>
            <a:endParaRPr/>
          </a:p>
        </p:txBody>
      </p:sp>
      <p:sp>
        <p:nvSpPr>
          <p:cNvPr id="317" name="Google Shape;317;p19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650" y="1555675"/>
            <a:ext cx="4490497" cy="242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00" y="1555675"/>
            <a:ext cx="4289448" cy="242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1388550" y="0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Differences in Trip Lengths</a:t>
            </a:r>
            <a:endParaRPr/>
          </a:p>
        </p:txBody>
      </p:sp>
      <p:sp>
        <p:nvSpPr>
          <p:cNvPr id="325" name="Google Shape;325;p20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25" y="1938950"/>
            <a:ext cx="4594401" cy="25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900" y="1938949"/>
            <a:ext cx="4203707" cy="25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type="title"/>
          </p:nvPr>
        </p:nvSpPr>
        <p:spPr>
          <a:xfrm>
            <a:off x="1388550" y="44250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Differences in Trip Days</a:t>
            </a:r>
            <a:endParaRPr sz="3000"/>
          </a:p>
        </p:txBody>
      </p:sp>
      <p:sp>
        <p:nvSpPr>
          <p:cNvPr id="333" name="Google Shape;333;p2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00" y="1907550"/>
            <a:ext cx="4243125" cy="255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244" y="1907550"/>
            <a:ext cx="4243131" cy="25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>
            <p:ph type="title"/>
          </p:nvPr>
        </p:nvSpPr>
        <p:spPr>
          <a:xfrm>
            <a:off x="1388625" y="0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Recommendations (Top 3)</a:t>
            </a:r>
            <a:endParaRPr/>
          </a:p>
        </p:txBody>
      </p:sp>
      <p:sp>
        <p:nvSpPr>
          <p:cNvPr id="341" name="Google Shape;341;p22"/>
          <p:cNvSpPr txBox="1"/>
          <p:nvPr>
            <p:ph idx="1" type="body"/>
          </p:nvPr>
        </p:nvSpPr>
        <p:spPr>
          <a:xfrm>
            <a:off x="1388550" y="1863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Weekend Explorer membership trials for casual riders.</a:t>
            </a:r>
            <a:endParaRPr sz="1900"/>
          </a:p>
          <a:p>
            <a:pPr indent="-34925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Commute-focused messaging during weekday peaks.</a:t>
            </a:r>
            <a:endParaRPr sz="1900"/>
          </a:p>
          <a:p>
            <a:pPr indent="-349250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Station-targeted offers at casual hotspots (e.g., Streeter Dr &amp; Grand Ave).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 txBox="1"/>
          <p:nvPr>
            <p:ph type="title"/>
          </p:nvPr>
        </p:nvSpPr>
        <p:spPr>
          <a:xfrm>
            <a:off x="1388625" y="0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/>
          </a:p>
        </p:txBody>
      </p:sp>
      <p:sp>
        <p:nvSpPr>
          <p:cNvPr id="347" name="Google Shape;347;p23"/>
          <p:cNvSpPr txBox="1"/>
          <p:nvPr>
            <p:ph idx="1" type="body"/>
          </p:nvPr>
        </p:nvSpPr>
        <p:spPr>
          <a:xfrm>
            <a:off x="1388625" y="1819350"/>
            <a:ext cx="67752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Pilot conversion campaigns at top casual stations.</a:t>
            </a:r>
            <a:endParaRPr sz="1900"/>
          </a:p>
          <a:p>
            <a:pPr indent="-34925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Measure conversion lift over 4–8 weeks.</a:t>
            </a:r>
            <a:endParaRPr sz="1900"/>
          </a:p>
          <a:p>
            <a:pPr indent="-349250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Add weather and event data for deeper targeting.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